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0" r:id="rId2"/>
    <p:sldId id="263" r:id="rId3"/>
    <p:sldId id="256" r:id="rId4"/>
    <p:sldId id="257" r:id="rId5"/>
    <p:sldId id="258" r:id="rId6"/>
    <p:sldId id="259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627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0438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557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5240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093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2488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6310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655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572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332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6330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7903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8434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4096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2206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529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D2BE0-41FB-4B5D-8B8A-159D271D2CA2}" type="datetimeFigureOut">
              <a:rPr lang="es-CO" smtClean="0"/>
              <a:t>28/05/2026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A5369A3-8B03-4CD0-B2D0-EB3C8B793C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922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33514B0-5500-461F-A9E2-9157AE0E9205}"/>
              </a:ext>
            </a:extLst>
          </p:cNvPr>
          <p:cNvSpPr txBox="1"/>
          <p:nvPr/>
        </p:nvSpPr>
        <p:spPr>
          <a:xfrm>
            <a:off x="1147452" y="1382468"/>
            <a:ext cx="75868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80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Predecir la demanda es solo la mitad de la batalla. Si pedimos menos, perdemos ventas (costo de oportunidad); si pedimos más, incurrimos en costos de almacenamiento y capital. </a:t>
            </a:r>
          </a:p>
          <a:p>
            <a:pPr algn="just"/>
            <a:endParaRPr lang="es-MX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algn="just"/>
            <a:r>
              <a:rPr lang="es-CO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Para abordar este tipo de problemas, lo más recomendable es escoger un modelo asociado al comportamiento de los ítems a abastecer, como en este caso son perecederos con poca vida útil, se establecerá el modelo </a:t>
            </a:r>
            <a:r>
              <a:rPr lang="es-CO" b="1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NewsVendor</a:t>
            </a:r>
            <a:r>
              <a:rPr lang="es-CO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(vendedor de periódicos para productos perecederos) </a:t>
            </a:r>
            <a:r>
              <a:rPr lang="es-MX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el cual tiene una única oportunidad de venta y una demanda incierta</a:t>
            </a:r>
            <a:endParaRPr lang="es-CO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2AAD40E-BBCA-4559-A376-2942E8EC94AD}"/>
              </a:ext>
            </a:extLst>
          </p:cNvPr>
          <p:cNvSpPr txBox="1"/>
          <p:nvPr/>
        </p:nvSpPr>
        <p:spPr>
          <a:xfrm>
            <a:off x="1887683" y="656095"/>
            <a:ext cx="5831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b="0" i="0" u="none" strike="noStrike" baseline="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OPTIMIZACIÓN DE ABASTECIMIENTO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02BCFE9-56D4-401E-BD6E-D8BE09A43BA1}"/>
              </a:ext>
            </a:extLst>
          </p:cNvPr>
          <p:cNvSpPr txBox="1"/>
          <p:nvPr/>
        </p:nvSpPr>
        <p:spPr>
          <a:xfrm>
            <a:off x="1147452" y="4394445"/>
            <a:ext cx="79579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Función de costo total esperado: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E[CT(Q)] = Cu · E[</a:t>
            </a:r>
            <a:r>
              <a:rPr lang="es-CO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s-CO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(D - Q, 0)]   ← costo de </a:t>
            </a:r>
            <a:r>
              <a:rPr lang="es-CO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stockout</a:t>
            </a:r>
            <a:r>
              <a:rPr lang="es-CO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s-CO" dirty="0">
                <a:solidFill>
                  <a:srgbClr val="6A9955"/>
                </a:solidFill>
                <a:latin typeface="Consolas" panose="020B0609020204030204" pitchFamily="49" charset="0"/>
              </a:rPr>
              <a:t>         </a:t>
            </a:r>
            <a:r>
              <a:rPr lang="es-CO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+ Co · E[</a:t>
            </a:r>
            <a:r>
              <a:rPr lang="es-CO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s-CO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(Q - D, 0)]   ← costo de </a:t>
            </a:r>
            <a:r>
              <a:rPr lang="es-CO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overstock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850A7E2-D99A-47AF-8932-DA4E5B0A9378}"/>
              </a:ext>
            </a:extLst>
          </p:cNvPr>
          <p:cNvSpPr txBox="1"/>
          <p:nvPr/>
        </p:nvSpPr>
        <p:spPr>
          <a:xfrm>
            <a:off x="1061356" y="5150600"/>
            <a:ext cx="89673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Definiciones de costos:</a:t>
            </a:r>
            <a:endParaRPr lang="es-MX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Cu = </a:t>
            </a:r>
            <a:r>
              <a:rPr lang="es-MX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precio_venta</a:t>
            </a:r>
            <a:r>
              <a:rPr lang="es-MX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s-MX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costo_unitario</a:t>
            </a:r>
            <a:r>
              <a:rPr lang="es-MX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(margen perdido por unidad no vendida)</a:t>
            </a:r>
            <a:endParaRPr lang="es-MX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Co = </a:t>
            </a:r>
            <a:r>
              <a:rPr lang="es-MX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costo_almacenamiento_semanal</a:t>
            </a:r>
            <a:r>
              <a:rPr lang="es-MX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(costo de guardar 1 unidad 1 semana)</a:t>
            </a:r>
            <a:endParaRPr lang="es-MX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411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02BCFE9-56D4-401E-BD6E-D8BE09A43BA1}"/>
              </a:ext>
            </a:extLst>
          </p:cNvPr>
          <p:cNvSpPr txBox="1"/>
          <p:nvPr/>
        </p:nvSpPr>
        <p:spPr>
          <a:xfrm>
            <a:off x="925574" y="543420"/>
            <a:ext cx="795795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1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Función de costo total esperado:</a:t>
            </a:r>
          </a:p>
          <a:p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E[CT(Q)] = Cu · E[</a:t>
            </a:r>
            <a:r>
              <a:rPr lang="es-CO" sz="1200" b="0" dirty="0" err="1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max</a:t>
            </a: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(D - Q, 0)]   ← costo de </a:t>
            </a:r>
            <a:r>
              <a:rPr lang="es-CO" sz="1200" b="0" dirty="0" err="1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stockout</a:t>
            </a: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 </a:t>
            </a:r>
          </a:p>
          <a:p>
            <a:r>
              <a:rPr lang="es-CO" sz="12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    </a:t>
            </a: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+ Co · E[</a:t>
            </a:r>
            <a:r>
              <a:rPr lang="es-CO" sz="1200" b="0" dirty="0" err="1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max</a:t>
            </a: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(Q - D, 0)]   ← costo de </a:t>
            </a:r>
            <a:r>
              <a:rPr lang="es-CO" sz="1200" b="0" dirty="0" err="1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overstock</a:t>
            </a:r>
            <a:endParaRPr lang="es-CO" sz="1200" b="0" dirty="0">
              <a:solidFill>
                <a:schemeClr val="accent1">
                  <a:lumMod val="50000"/>
                </a:schemeClr>
              </a:solidFill>
              <a:effectLst/>
              <a:latin typeface="Arial Rounded MT Bold" panose="020F07040305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850A7E2-D99A-47AF-8932-DA4E5B0A9378}"/>
              </a:ext>
            </a:extLst>
          </p:cNvPr>
          <p:cNvSpPr txBox="1"/>
          <p:nvPr/>
        </p:nvSpPr>
        <p:spPr>
          <a:xfrm>
            <a:off x="925574" y="1313910"/>
            <a:ext cx="1047552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Definiciones de costos:</a:t>
            </a:r>
          </a:p>
          <a:p>
            <a:r>
              <a:rPr lang="es-MX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Cu = precio venta – costo unitario      (margen perdido por unidad no vendida)</a:t>
            </a:r>
          </a:p>
          <a:p>
            <a:r>
              <a:rPr lang="es-MX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Co = costo almacenamiento semanal       (costo de guardar 1 unidad 1 semana)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C02E037-C009-4F31-A08E-DE3250B9ACD9}"/>
              </a:ext>
            </a:extLst>
          </p:cNvPr>
          <p:cNvSpPr txBox="1"/>
          <p:nvPr/>
        </p:nvSpPr>
        <p:spPr>
          <a:xfrm>
            <a:off x="925574" y="2230038"/>
            <a:ext cx="1105147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Critical</a:t>
            </a:r>
            <a:r>
              <a:rPr lang="es-MX" sz="1400" b="1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 Ratio (CR):</a:t>
            </a:r>
          </a:p>
          <a:p>
            <a:r>
              <a:rPr lang="es-MX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CR = Cu / (Cu + Co)   ∈ (0, 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CR alto: el costo de NO tener stock supera al costo de </a:t>
            </a:r>
            <a:r>
              <a:rPr lang="es-MX" sz="1200" b="0" dirty="0" err="1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sobrestock</a:t>
            </a:r>
            <a:r>
              <a:rPr lang="es-MX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 conviene pedir MÁS (perfil agresivo)</a:t>
            </a:r>
            <a:endParaRPr lang="es-MX" sz="12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CR bajo: el costo de guardar exceso supera al costo de perder ventas conviene pedir MENOS (perfil conservador)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6601CA2-CEC3-413A-AE8D-0FDA6F7CBE99}"/>
              </a:ext>
            </a:extLst>
          </p:cNvPr>
          <p:cNvSpPr txBox="1"/>
          <p:nvPr/>
        </p:nvSpPr>
        <p:spPr>
          <a:xfrm>
            <a:off x="925574" y="3287018"/>
            <a:ext cx="1047552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1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Demanda modelada como Normal(</a:t>
            </a:r>
            <a:r>
              <a:rPr lang="el-GR" sz="1400" b="1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μ, σ²):</a:t>
            </a:r>
          </a:p>
          <a:p>
            <a:r>
              <a:rPr lang="el-GR" sz="12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μ  = </a:t>
            </a: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pronóstico P50 del modelo</a:t>
            </a:r>
          </a:p>
          <a:p>
            <a:r>
              <a:rPr lang="el-GR" sz="12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σ̂ = (</a:t>
            </a: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P90 - P10) / (2 × z₀.₉₀)  donde z₀.₉₀ = 1.2816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EE3A32F-B3AF-4796-977F-9C206F0CB8B4}"/>
              </a:ext>
            </a:extLst>
          </p:cNvPr>
          <p:cNvSpPr txBox="1"/>
          <p:nvPr/>
        </p:nvSpPr>
        <p:spPr>
          <a:xfrm>
            <a:off x="925574" y="4159332"/>
            <a:ext cx="1147304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1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Cantidad óptima:</a:t>
            </a:r>
          </a:p>
          <a:p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Q* = </a:t>
            </a:r>
            <a:r>
              <a:rPr lang="el-GR" sz="12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μ + </a:t>
            </a: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z(CR) × </a:t>
            </a:r>
            <a:r>
              <a:rPr lang="el-GR" sz="12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σ̂    [</a:t>
            </a: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donde z(CR) = </a:t>
            </a:r>
            <a:r>
              <a:rPr lang="es-CO" sz="1200" b="0" dirty="0" err="1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norm.ppf</a:t>
            </a: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(CR)]</a:t>
            </a:r>
          </a:p>
          <a:p>
            <a:endParaRPr lang="es-CO" sz="1200" b="0" dirty="0">
              <a:solidFill>
                <a:schemeClr val="accent1">
                  <a:lumMod val="50000"/>
                </a:schemeClr>
              </a:solidFill>
              <a:effectLst/>
              <a:latin typeface="Arial Rounded MT Bold" panose="020F0704030504030204" pitchFamily="34" charset="0"/>
            </a:endParaRPr>
          </a:p>
          <a:p>
            <a:r>
              <a:rPr lang="es-CO" sz="1400" b="1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Pedido final (ajustado por stock disponible):</a:t>
            </a:r>
          </a:p>
          <a:p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Pedido = </a:t>
            </a:r>
            <a:r>
              <a:rPr lang="es-CO" sz="1200" b="0" dirty="0" err="1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max</a:t>
            </a: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(0, Q* - </a:t>
            </a:r>
            <a:r>
              <a:rPr lang="es-CO" sz="1200" b="0" dirty="0" err="1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stock_actual</a:t>
            </a: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)</a:t>
            </a:r>
            <a:endParaRPr lang="es-CO" sz="12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endParaRPr lang="es-CO" sz="1200" b="0" dirty="0">
              <a:solidFill>
                <a:schemeClr val="accent1">
                  <a:lumMod val="50000"/>
                </a:schemeClr>
              </a:solidFill>
              <a:effectLst/>
              <a:latin typeface="Arial Rounded MT Bold" panose="020F0704030504030204" pitchFamily="34" charset="0"/>
            </a:endParaRPr>
          </a:p>
          <a:p>
            <a:r>
              <a:rPr lang="es-CO" sz="1400" b="1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RELACIÓN INCERTIDUMBRE → AGRESIVIDAD: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Si </a:t>
            </a:r>
            <a:r>
              <a:rPr lang="el-GR" sz="12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σ̂ </a:t>
            </a: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es ALTA (modelo impreciso) y CR &gt; 0.5 → Q* sube más → pedir más buffer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Si </a:t>
            </a:r>
            <a:r>
              <a:rPr lang="el-GR" sz="12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σ̂ </a:t>
            </a: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es BAJA (modelo preciso)   → Q* ≈ </a:t>
            </a:r>
            <a:r>
              <a:rPr lang="el-GR" sz="1200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μ   → </a:t>
            </a:r>
            <a:r>
              <a:rPr lang="es-CO" sz="1200" b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pedir solo el pronóstico central</a:t>
            </a:r>
          </a:p>
        </p:txBody>
      </p:sp>
    </p:spTree>
    <p:extLst>
      <p:ext uri="{BB962C8B-B14F-4D97-AF65-F5344CB8AC3E}">
        <p14:creationId xmlns:p14="http://schemas.microsoft.com/office/powerpoint/2010/main" val="2375409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0AD33D6-B274-4BF0-B90A-0912761C7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384" y="552203"/>
            <a:ext cx="6046854" cy="551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51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9149D3D-40C2-4A8D-A366-9038FE8C2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80" y="1507100"/>
            <a:ext cx="9429008" cy="343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23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FFB61D3-E0DC-4C3A-95F0-D60F07A00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95" y="1615232"/>
            <a:ext cx="9250878" cy="283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1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1B240A5-97A9-4A37-B63D-7F0F192C7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75" y="0"/>
            <a:ext cx="75242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54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96EA785-AE39-46DC-9AD1-6D70C20E5BF8}"/>
              </a:ext>
            </a:extLst>
          </p:cNvPr>
          <p:cNvSpPr txBox="1"/>
          <p:nvPr/>
        </p:nvSpPr>
        <p:spPr>
          <a:xfrm>
            <a:off x="942603" y="1279106"/>
            <a:ext cx="80351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i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SKU-Tiendas procesados : 160 </a:t>
            </a:r>
          </a:p>
          <a:p>
            <a:r>
              <a:rPr lang="es-CO" b="0" i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Pedido total recomendado : 13,099 unidades </a:t>
            </a:r>
          </a:p>
          <a:p>
            <a:r>
              <a:rPr lang="es-CO" b="0" i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Ahorro vs. política </a:t>
            </a:r>
            <a:r>
              <a:rPr lang="es-CO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naive</a:t>
            </a:r>
            <a:r>
              <a:rPr lang="es-CO" b="0" i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: COP 564,013 </a:t>
            </a:r>
          </a:p>
          <a:p>
            <a:r>
              <a:rPr lang="es-CO" b="0" i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Nivel de servicio </a:t>
            </a:r>
            <a:r>
              <a:rPr lang="es-CO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prom</a:t>
            </a:r>
            <a:r>
              <a:rPr lang="es-CO" b="0" i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. : 99.0% </a:t>
            </a:r>
          </a:p>
          <a:p>
            <a:r>
              <a:rPr lang="es-CO" b="0" i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CR promedio : 0.990</a:t>
            </a:r>
          </a:p>
          <a:p>
            <a:r>
              <a:rPr lang="es-MX" b="1" i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Distribución de perfil de pedido: agresividad - AGRESIVO 160</a:t>
            </a:r>
            <a:endParaRPr lang="es-CO" b="1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C3512CF-A351-4B67-B49F-43547F2B3911}"/>
              </a:ext>
            </a:extLst>
          </p:cNvPr>
          <p:cNvSpPr txBox="1"/>
          <p:nvPr/>
        </p:nvSpPr>
        <p:spPr>
          <a:xfrm>
            <a:off x="4299362" y="404290"/>
            <a:ext cx="2392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i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RESULTADOS</a:t>
            </a:r>
            <a:endParaRPr lang="es-CO" sz="2400" b="1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6FA2BBF9-9D5A-4160-A42D-CADC2EB8D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67362"/>
              </p:ext>
            </p:extLst>
          </p:nvPr>
        </p:nvGraphicFramePr>
        <p:xfrm>
          <a:off x="1121698" y="3446583"/>
          <a:ext cx="7956989" cy="2645445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738511">
                  <a:extLst>
                    <a:ext uri="{9D8B030D-6E8A-4147-A177-3AD203B41FA5}">
                      <a16:colId xmlns:a16="http://schemas.microsoft.com/office/drawing/2014/main" val="3190214522"/>
                    </a:ext>
                  </a:extLst>
                </a:gridCol>
                <a:gridCol w="1076995">
                  <a:extLst>
                    <a:ext uri="{9D8B030D-6E8A-4147-A177-3AD203B41FA5}">
                      <a16:colId xmlns:a16="http://schemas.microsoft.com/office/drawing/2014/main" val="3658602412"/>
                    </a:ext>
                  </a:extLst>
                </a:gridCol>
                <a:gridCol w="1076995">
                  <a:extLst>
                    <a:ext uri="{9D8B030D-6E8A-4147-A177-3AD203B41FA5}">
                      <a16:colId xmlns:a16="http://schemas.microsoft.com/office/drawing/2014/main" val="3744699657"/>
                    </a:ext>
                  </a:extLst>
                </a:gridCol>
                <a:gridCol w="1654349">
                  <a:extLst>
                    <a:ext uri="{9D8B030D-6E8A-4147-A177-3AD203B41FA5}">
                      <a16:colId xmlns:a16="http://schemas.microsoft.com/office/drawing/2014/main" val="713080089"/>
                    </a:ext>
                  </a:extLst>
                </a:gridCol>
                <a:gridCol w="987571">
                  <a:extLst>
                    <a:ext uri="{9D8B030D-6E8A-4147-A177-3AD203B41FA5}">
                      <a16:colId xmlns:a16="http://schemas.microsoft.com/office/drawing/2014/main" val="242544085"/>
                    </a:ext>
                  </a:extLst>
                </a:gridCol>
                <a:gridCol w="1104406">
                  <a:extLst>
                    <a:ext uri="{9D8B030D-6E8A-4147-A177-3AD203B41FA5}">
                      <a16:colId xmlns:a16="http://schemas.microsoft.com/office/drawing/2014/main" val="2799722877"/>
                    </a:ext>
                  </a:extLst>
                </a:gridCol>
                <a:gridCol w="1318162">
                  <a:extLst>
                    <a:ext uri="{9D8B030D-6E8A-4147-A177-3AD203B41FA5}">
                      <a16:colId xmlns:a16="http://schemas.microsoft.com/office/drawing/2014/main" val="898157190"/>
                    </a:ext>
                  </a:extLst>
                </a:gridCol>
              </a:tblGrid>
              <a:tr h="427043">
                <a:tc>
                  <a:txBody>
                    <a:bodyPr/>
                    <a:lstStyle/>
                    <a:p>
                      <a:pPr algn="ctr"/>
                      <a:r>
                        <a:rPr lang="es-CO" sz="13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index</a:t>
                      </a:r>
                      <a:endParaRPr lang="es-CO" sz="13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id_tienda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id_producto</a:t>
                      </a:r>
                      <a:endParaRPr lang="es-CO" sz="13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nombre_producto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Q_optimo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stock_actual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PEDIDO_RECOMENDADO</a:t>
                      </a:r>
                    </a:p>
                  </a:txBody>
                  <a:tcPr marL="66552" marR="66552" marT="13865" marB="13865" anchor="ctr"/>
                </a:tc>
                <a:extLst>
                  <a:ext uri="{0D108BD9-81ED-4DB2-BD59-A6C34878D82A}">
                    <a16:rowId xmlns:a16="http://schemas.microsoft.com/office/drawing/2014/main" val="828408691"/>
                  </a:ext>
                </a:extLst>
              </a:tr>
              <a:tr h="227386"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0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STORE_01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PROD_001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Tinto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53.4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52</a:t>
                      </a:r>
                    </a:p>
                  </a:txBody>
                  <a:tcPr marL="66552" marR="66552" marT="13865" marB="13865" anchor="ctr"/>
                </a:tc>
                <a:extLst>
                  <a:ext uri="{0D108BD9-81ED-4DB2-BD59-A6C34878D82A}">
                    <a16:rowId xmlns:a16="http://schemas.microsoft.com/office/drawing/2014/main" val="1306501327"/>
                  </a:ext>
                </a:extLst>
              </a:tr>
              <a:tr h="427043"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b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STORE_01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PROD_002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Cafe</a:t>
                      </a:r>
                      <a:r>
                        <a:rPr lang="es-CO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 con Leche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80.2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10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70</a:t>
                      </a:r>
                    </a:p>
                  </a:txBody>
                  <a:tcPr marL="66552" marR="66552" marT="13865" marB="13865" anchor="ctr"/>
                </a:tc>
                <a:extLst>
                  <a:ext uri="{0D108BD9-81ED-4DB2-BD59-A6C34878D82A}">
                    <a16:rowId xmlns:a16="http://schemas.microsoft.com/office/drawing/2014/main" val="3417931662"/>
                  </a:ext>
                </a:extLst>
              </a:tr>
              <a:tr h="227386"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b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2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STORE_01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PROD_003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Cappuccino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78.4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33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45</a:t>
                      </a:r>
                    </a:p>
                  </a:txBody>
                  <a:tcPr marL="66552" marR="66552" marT="13865" marB="13865" anchor="ctr"/>
                </a:tc>
                <a:extLst>
                  <a:ext uri="{0D108BD9-81ED-4DB2-BD59-A6C34878D82A}">
                    <a16:rowId xmlns:a16="http://schemas.microsoft.com/office/drawing/2014/main" val="2959437497"/>
                  </a:ext>
                </a:extLst>
              </a:tr>
              <a:tr h="227386"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b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3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STORE_01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PROD_004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Pan de Bono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55.8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11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45</a:t>
                      </a:r>
                    </a:p>
                  </a:txBody>
                  <a:tcPr marL="66552" marR="66552" marT="13865" marB="13865" anchor="ctr"/>
                </a:tc>
                <a:extLst>
                  <a:ext uri="{0D108BD9-81ED-4DB2-BD59-A6C34878D82A}">
                    <a16:rowId xmlns:a16="http://schemas.microsoft.com/office/drawing/2014/main" val="1986087427"/>
                  </a:ext>
                </a:extLst>
              </a:tr>
              <a:tr h="227386"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b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4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STORE_01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PROD_005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Bunuelo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74.9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3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72</a:t>
                      </a:r>
                    </a:p>
                  </a:txBody>
                  <a:tcPr marL="66552" marR="66552" marT="13865" marB="13865" anchor="ctr"/>
                </a:tc>
                <a:extLst>
                  <a:ext uri="{0D108BD9-81ED-4DB2-BD59-A6C34878D82A}">
                    <a16:rowId xmlns:a16="http://schemas.microsoft.com/office/drawing/2014/main" val="2272292232"/>
                  </a:ext>
                </a:extLst>
              </a:tr>
              <a:tr h="227386"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b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5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STORE_01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PROD_006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Croissant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98.0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13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85</a:t>
                      </a:r>
                    </a:p>
                  </a:txBody>
                  <a:tcPr marL="66552" marR="66552" marT="13865" marB="13865" anchor="ctr"/>
                </a:tc>
                <a:extLst>
                  <a:ext uri="{0D108BD9-81ED-4DB2-BD59-A6C34878D82A}">
                    <a16:rowId xmlns:a16="http://schemas.microsoft.com/office/drawing/2014/main" val="3465044628"/>
                  </a:ext>
                </a:extLst>
              </a:tr>
              <a:tr h="227386"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b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6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STORE_01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PROD_007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Pastel de Pollo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86.6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8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79</a:t>
                      </a:r>
                    </a:p>
                  </a:txBody>
                  <a:tcPr marL="66552" marR="66552" marT="13865" marB="13865" anchor="ctr"/>
                </a:tc>
                <a:extLst>
                  <a:ext uri="{0D108BD9-81ED-4DB2-BD59-A6C34878D82A}">
                    <a16:rowId xmlns:a16="http://schemas.microsoft.com/office/drawing/2014/main" val="1773630209"/>
                  </a:ext>
                </a:extLst>
              </a:tr>
              <a:tr h="427043"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b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7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STORE_01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PROD_008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Jugo de Naranja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74.9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13</a:t>
                      </a:r>
                    </a:p>
                  </a:txBody>
                  <a:tcPr marL="66552" marR="66552" marT="13865" marB="13865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CO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62</a:t>
                      </a:r>
                    </a:p>
                  </a:txBody>
                  <a:tcPr marL="66552" marR="66552" marT="13865" marB="13865" anchor="ctr"/>
                </a:tc>
                <a:extLst>
                  <a:ext uri="{0D108BD9-81ED-4DB2-BD59-A6C34878D82A}">
                    <a16:rowId xmlns:a16="http://schemas.microsoft.com/office/drawing/2014/main" val="1361787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2825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96EA785-AE39-46DC-9AD1-6D70C20E5BF8}"/>
              </a:ext>
            </a:extLst>
          </p:cNvPr>
          <p:cNvSpPr txBox="1"/>
          <p:nvPr/>
        </p:nvSpPr>
        <p:spPr>
          <a:xfrm>
            <a:off x="1358239" y="1279106"/>
            <a:ext cx="674667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1. BEVERAGES (Tinto, Café, Cappuccino, Jugo):</a:t>
            </a: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CR promedio alto → pedir hasta P75–P90 del IC.</a:t>
            </a: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El costo de oportunidad por falta de stock supera ampliamente</a:t>
            </a: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el costo de almacenar excesos pequeños.</a:t>
            </a:r>
          </a:p>
          <a:p>
            <a:endParaRPr lang="es-MX" sz="14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s-MX" sz="1400" b="1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2. ALIMENTOS (Pan, Buñuelo, Croissant, Pastel):</a:t>
            </a: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Costo de almacenamiento más alto (20-30 COP/u/</a:t>
            </a:r>
            <a:r>
              <a:rPr lang="es-MX" sz="14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sem</a:t>
            </a:r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) → CR más bajo.</a:t>
            </a: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Pedir cerca del P50; solo subir a P75 si la tendencia es "up".</a:t>
            </a:r>
          </a:p>
          <a:p>
            <a:endParaRPr lang="es-MX" sz="14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s-MX" sz="1400" b="1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3. INCERTIDUMBRE Y DATOS:</a:t>
            </a: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A mayor σ̂ (incertidumbre del modelo), mayor buffer requerido.</a:t>
            </a: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Con solo 13 semanas de histórico, σ̂ es alto en todos los </a:t>
            </a:r>
            <a:r>
              <a:rPr lang="es-MX" sz="14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SKUs</a:t>
            </a:r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.</a:t>
            </a: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Recolectar 6+ meses reducirá σ̂ y los pedidos convergerán a P50.</a:t>
            </a:r>
          </a:p>
          <a:p>
            <a:endParaRPr lang="es-MX" sz="14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s-MX" sz="1400" b="1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4. FINES DE SEMANA:</a:t>
            </a: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Asegurar stock suficiente el viernes para cubrir Vie-Sáb-Dom.</a:t>
            </a: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Considerar un modelo separado para la </a:t>
            </a:r>
            <a:r>
              <a:rPr lang="es-MX" sz="14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mini-serie</a:t>
            </a:r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Vie-Dom.</a:t>
            </a:r>
          </a:p>
          <a:p>
            <a:endParaRPr lang="es-MX" sz="14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5. TENDENCIA:</a:t>
            </a: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</a:t>
            </a:r>
            <a:r>
              <a:rPr lang="es-MX" sz="14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SKUs</a:t>
            </a:r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con tendencia "up" deben añadir un buffer adicional del 5-10%</a:t>
            </a: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sobre Q*</a:t>
            </a: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para anticipar el crecimiento de la demanda.</a:t>
            </a:r>
          </a:p>
          <a:p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    </a:t>
            </a:r>
            <a:r>
              <a:rPr lang="es-MX" sz="14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SKUs</a:t>
            </a:r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con tendencia "</a:t>
            </a:r>
            <a:r>
              <a:rPr lang="es-MX" sz="1400" dirty="0" err="1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down</a:t>
            </a:r>
            <a:r>
              <a:rPr lang="es-MX" sz="1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": reducir el pedido al 90% de Q*.</a:t>
            </a:r>
          </a:p>
          <a:p>
            <a:endParaRPr lang="es-CO" sz="1400" b="1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C3512CF-A351-4B67-B49F-43547F2B3911}"/>
              </a:ext>
            </a:extLst>
          </p:cNvPr>
          <p:cNvSpPr txBox="1"/>
          <p:nvPr/>
        </p:nvSpPr>
        <p:spPr>
          <a:xfrm>
            <a:off x="3165267" y="439916"/>
            <a:ext cx="5319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i="0" dirty="0">
                <a:solidFill>
                  <a:schemeClr val="accent1">
                    <a:lumMod val="50000"/>
                  </a:schemeClr>
                </a:solidFill>
                <a:effectLst/>
                <a:latin typeface="Arial Rounded MT Bold" panose="020F0704030504030204" pitchFamily="34" charset="0"/>
              </a:rPr>
              <a:t>RECOMENDACIONES Y ANÁLISIS</a:t>
            </a:r>
            <a:endParaRPr lang="es-CO" sz="2400" b="1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8120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</TotalTime>
  <Words>841</Words>
  <Application>Microsoft Office PowerPoint</Application>
  <PresentationFormat>Panorámica</PresentationFormat>
  <Paragraphs>126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Arial Rounded MT Bold</vt:lpstr>
      <vt:lpstr>Consolas</vt:lpstr>
      <vt:lpstr>Trebuchet MS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Rodriguez</dc:creator>
  <cp:lastModifiedBy>Jose Rodriguez</cp:lastModifiedBy>
  <cp:revision>12</cp:revision>
  <dcterms:created xsi:type="dcterms:W3CDTF">2026-05-28T07:54:30Z</dcterms:created>
  <dcterms:modified xsi:type="dcterms:W3CDTF">2026-05-28T08:27:31Z</dcterms:modified>
</cp:coreProperties>
</file>